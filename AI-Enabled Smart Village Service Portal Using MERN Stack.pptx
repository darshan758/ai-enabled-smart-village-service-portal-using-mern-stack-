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4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2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0.xml" ContentType="application/vnd.openxmlformats-officedocument.presentationml.slideLayout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heme/theme6.xml" ContentType="application/vnd.openxmlformats-officedocument.theme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3" r:id="rId3"/>
    <p:sldMasterId id="2147483686" r:id="rId4"/>
  </p:sldMasterIdLst>
  <p:notesMasterIdLst>
    <p:notesMasterId r:id="rId21"/>
  </p:notesMasterIdLst>
  <p:handoutMasterIdLst>
    <p:handoutMasterId r:id="rId22"/>
  </p:handoutMasterIdLst>
  <p:sldIdLst>
    <p:sldId id="257" r:id="rId5"/>
    <p:sldId id="287" r:id="rId6"/>
    <p:sldId id="288" r:id="rId7"/>
    <p:sldId id="289" r:id="rId8"/>
    <p:sldId id="302" r:id="rId9"/>
    <p:sldId id="304" r:id="rId10"/>
    <p:sldId id="290" r:id="rId11"/>
    <p:sldId id="292" r:id="rId12"/>
    <p:sldId id="308" r:id="rId13"/>
    <p:sldId id="293" r:id="rId14"/>
    <p:sldId id="294" r:id="rId15"/>
    <p:sldId id="303" r:id="rId16"/>
    <p:sldId id="305" r:id="rId17"/>
    <p:sldId id="306" r:id="rId18"/>
    <p:sldId id="307" r:id="rId19"/>
    <p:sldId id="29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049" userDrawn="1">
          <p15:clr>
            <a:srgbClr val="A4A3A4"/>
          </p15:clr>
        </p15:guide>
        <p15:guide id="2" pos="23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28E01"/>
    <a:srgbClr val="000000"/>
    <a:srgbClr val="58585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7975" autoAdjust="0"/>
    <p:restoredTop sz="94660"/>
  </p:normalViewPr>
  <p:slideViewPr>
    <p:cSldViewPr showGuides="1">
      <p:cViewPr>
        <p:scale>
          <a:sx n="66" d="100"/>
          <a:sy n="66" d="100"/>
        </p:scale>
        <p:origin x="-780" y="-234"/>
      </p:cViewPr>
      <p:guideLst>
        <p:guide orient="horz" pos="1049"/>
        <p:guide pos="23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Futura Cyrillic Book" panose="020B0502020204020303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>
                <a:latin typeface="Futura Cyrillic Book" panose="020B0502020204020303" charset="0"/>
              </a:rPr>
              <a:pPr/>
              <a:t>5/18/2026</a:t>
            </a:fld>
            <a:endParaRPr lang="en-US">
              <a:latin typeface="Futura Cyrillic Book" panose="020B0502020204020303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Futura Cyrillic Book" panose="020B0502020204020303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>
                <a:latin typeface="Futura Cyrillic Book" panose="020B0502020204020303" charset="0"/>
              </a:rPr>
              <a:pPr/>
              <a:t>‹#›</a:t>
            </a:fld>
            <a:endParaRPr lang="en-US">
              <a:latin typeface="Futura Cyrillic Book" panose="020B0502020204020303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884137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utura Cyrillic Book" panose="020B0502020204020303" charset="0"/>
              </a:defRPr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utura Cyrillic Book" panose="020B0502020204020303" charset="0"/>
              </a:defRPr>
            </a:lvl1pPr>
          </a:lstStyle>
          <a:p>
            <a:fld id="{0ECD8AD1-49EC-45F2-A2FF-1FE3195688C5}" type="datetimeFigureOut">
              <a:rPr lang="en-IN" smtClean="0"/>
              <a:pPr/>
              <a:t>18-05-2026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utura Cyrillic Book" panose="020B0502020204020303" charset="0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utura Cyrillic Book" panose="020B0502020204020303" charset="0"/>
              </a:defRPr>
            </a:lvl1pPr>
          </a:lstStyle>
          <a:p>
            <a:fld id="{7782813F-5D25-4BB6-888C-4601F85758C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054132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043120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043120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30E18A2-924C-0D76-AB2C-1A998D94E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A1BFB79D-7007-3FE9-5899-35FD6AD1E4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11199A1D-EDC4-F325-40D7-6CD7C6D71A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4828613-2756-328E-10E5-505D6933D1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876769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0EF74C6-0A7C-9311-B91B-AB3E23381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6F17EC23-AB53-39F3-0D5E-6F22FF04D4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0896C841-F5F4-41C5-BEDE-5AC9B57C9A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A563EB6-5A5D-A0CF-BEBA-75BC1A4038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41327604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0EF74C6-0A7C-9311-B91B-AB3E23381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6F17EC23-AB53-39F3-0D5E-6F22FF04D4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0896C841-F5F4-41C5-BEDE-5AC9B57C9A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A563EB6-5A5D-A0CF-BEBA-75BC1A4038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41327604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0EF74C6-0A7C-9311-B91B-AB3E23381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6F17EC23-AB53-39F3-0D5E-6F22FF04D4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0896C841-F5F4-41C5-BEDE-5AC9B57C9A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A563EB6-5A5D-A0CF-BEBA-75BC1A4038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41327604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C7449D6-8ADE-1728-6CED-799E75679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69F84F22-5ECA-5162-7F37-108447AFC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B6015219-E9AD-DF89-4B2E-4DCD53019A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5301A07-64F4-0682-9C47-F92AC4AB7A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7794062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C907347-BD56-D098-1D9B-CC5E523D5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2752399A-6369-CA64-5B53-E55DA0EAED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BDAEAF72-C26B-9342-5076-696F8BC3EE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9868E03-37E0-BD14-50BF-40D4FA693E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4502837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C907347-BD56-D098-1D9B-CC5E523D5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2752399A-6369-CA64-5B53-E55DA0EAED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BDAEAF72-C26B-9342-5076-696F8BC3EE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9868E03-37E0-BD14-50BF-40D4FA693E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4502837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AD2FC60-D2D3-31D0-A1BE-70AC854B7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5C092376-DD55-7D76-1614-EF22D33591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C20792C8-6D8F-E518-D03E-987701163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F664376-A808-4E0C-A391-2AC66FCA76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7119120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3DDB8A8-E2E4-48A7-3BF0-A62A3CA12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512FFD84-070B-5F9A-2110-332E70D4C7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A20637E4-EF56-8BEA-2305-DD9825C736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7C1269D-E632-76E9-2980-7BE73E528B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7428311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F8975C1-DFE7-A382-7DED-CC540C652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992C6AC0-0135-91EC-AFB9-5F712F0CF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76787507-39FF-4094-BEAF-50ABE1EE1A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E5168D5-30A8-33B0-8A59-DCCA5BFDF2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8310679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F8975C1-DFE7-A382-7DED-CC540C652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992C6AC0-0135-91EC-AFB9-5F712F0CF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76787507-39FF-4094-BEAF-50ABE1EE1A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E5168D5-30A8-33B0-8A59-DCCA5BFDF2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8310679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F8975C1-DFE7-A382-7DED-CC540C652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992C6AC0-0135-91EC-AFB9-5F712F0CF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76787507-39FF-4094-BEAF-50ABE1EE1A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E5168D5-30A8-33B0-8A59-DCCA5BFDF2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8310679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F8975C1-DFE7-A382-7DED-CC540C652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992C6AC0-0135-91EC-AFB9-5F712F0CF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76787507-39FF-4094-BEAF-50ABE1EE1A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E5168D5-30A8-33B0-8A59-DCCA5BFDF2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15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8310679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F8975C1-DFE7-A382-7DED-CC540C652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992C6AC0-0135-91EC-AFB9-5F712F0CF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76787507-39FF-4094-BEAF-50ABE1EE1A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E5168D5-30A8-33B0-8A59-DCCA5BFDF2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16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831067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81ACE-890E-4B55-88CA-A440D73ED3A3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BB8E-5703-4605-9BD4-B6282EF196A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b="37988"/>
          <a:stretch>
            <a:fillRect/>
          </a:stretch>
        </p:blipFill>
        <p:spPr>
          <a:xfrm>
            <a:off x="10256520" y="0"/>
            <a:ext cx="2194560" cy="9562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81ACE-890E-4B55-88CA-A440D73ED3A3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BB8E-5703-4605-9BD4-B6282EF196A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b="37988"/>
          <a:stretch>
            <a:fillRect/>
          </a:stretch>
        </p:blipFill>
        <p:spPr>
          <a:xfrm>
            <a:off x="10256520" y="0"/>
            <a:ext cx="2194560" cy="9562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49235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9802744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893944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502969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06599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568801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88764008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8444011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4171214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8566400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582924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4EF95999-A99C-46D6-BFDA-AEFA180EA74F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36B80835-DEB3-4275-B379-2566D87801AD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4EF95999-A99C-46D6-BFDA-AEFA180EA74F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95999-A99C-46D6-BFDA-AEFA180EA74F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977247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00520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-24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0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3015325" y="1404658"/>
            <a:ext cx="7772400" cy="860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AI-Enabled Smart Village Service Portal Using MERN Stack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14800" y="965473"/>
            <a:ext cx="499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i="1" dirty="0"/>
              <a:t> Project Phase 1 (BCS685) Synopsis Presentation 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67420" y="2255276"/>
            <a:ext cx="1424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i="1" dirty="0"/>
              <a:t>Presented by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243540336"/>
              </p:ext>
            </p:extLst>
          </p:nvPr>
        </p:nvGraphicFramePr>
        <p:xfrm>
          <a:off x="2709834" y="2755342"/>
          <a:ext cx="8136903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62440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71230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Group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USN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         </a:t>
                      </a:r>
                      <a:r>
                        <a:rPr lang="en-IN" sz="40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Darshan 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1AY23CS065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Gajula Harshith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1AY23CS077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 </a:t>
                      </a:r>
                      <a:r>
                        <a:rPr lang="en-IN" dirty="0" err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Shankarlingeshwar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1AY23CS107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Shailaja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1AY23CS166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741680">
                <a:tc gridSpan="3"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Guide </a:t>
                      </a:r>
                      <a:r>
                        <a:rPr lang="en-US" b="1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Name:Mrs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. Shrutika C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Rampure</a:t>
                      </a:r>
                      <a:endParaRPr lang="en-US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Designation:</a:t>
                      </a:r>
                      <a:r>
                        <a:rPr lang="en-US" b="1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Assistant Professor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itle 1"/>
          <p:cNvSpPr txBox="1">
            <a:spLocks/>
          </p:cNvSpPr>
          <p:nvPr/>
        </p:nvSpPr>
        <p:spPr>
          <a:xfrm>
            <a:off x="2667000" y="0"/>
            <a:ext cx="7620000" cy="9143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2400" b="1" dirty="0"/>
              <a:t>Department of Computer Science &amp; Engineering</a:t>
            </a:r>
            <a:endParaRPr lang="en-IN" sz="2400" dirty="0"/>
          </a:p>
          <a:p>
            <a:pPr algn="ctr"/>
            <a:r>
              <a:rPr lang="en-US" sz="2000" b="1" dirty="0"/>
              <a:t>Acharya Institute of Technology</a:t>
            </a:r>
            <a:endParaRPr lang="en-IN" sz="2000" dirty="0"/>
          </a:p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600" baseline="0" dirty="0">
                <a:ea typeface="+mj-ea"/>
                <a:cs typeface="+mj-cs"/>
              </a:rPr>
              <a:t>Soladevanahalli,</a:t>
            </a:r>
            <a:r>
              <a:rPr lang="en-IN" sz="1600" dirty="0">
                <a:ea typeface="+mj-ea"/>
                <a:cs typeface="+mj-cs"/>
              </a:rPr>
              <a:t> Bengaluru 560 107</a:t>
            </a:r>
            <a:endParaRPr kumimoji="0" lang="en-IN" sz="2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524100" y="571480"/>
            <a:ext cx="8929750" cy="1325563"/>
          </a:xfrm>
        </p:spPr>
        <p:txBody>
          <a:bodyPr>
            <a:noAutofit/>
          </a:bodyPr>
          <a:lstStyle/>
          <a:p>
            <a:pPr lvl="0">
              <a:defRPr/>
            </a:pP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AI-Enabled Smart Village Service Portal Using MERN Stack</a:t>
            </a:r>
            <a:endParaRPr lang="en-IN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2666976" y="2357430"/>
            <a:ext cx="8501122" cy="450057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endParaRPr lang="en-IN" dirty="0"/>
          </a:p>
          <a:p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1. Introduction  </a:t>
            </a:r>
          </a:p>
          <a:p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2. Literature Survey </a:t>
            </a:r>
          </a:p>
          <a:p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3. Problem statement and Objectives </a:t>
            </a:r>
          </a:p>
          <a:p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IN" sz="34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Proposed Methodology </a:t>
            </a:r>
          </a:p>
          <a:p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IN" sz="34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Deliverables and Impact </a:t>
            </a:r>
          </a:p>
          <a:p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IN" sz="34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Individual Responsibilities among the group members </a:t>
            </a:r>
          </a:p>
          <a:p>
            <a:r>
              <a:rPr lang="en-IN" sz="3400" dirty="0" smtClean="0">
                <a:latin typeface="Times New Roman" pitchFamily="18" charset="0"/>
                <a:cs typeface="Times New Roman" pitchFamily="18" charset="0"/>
              </a:rPr>
              <a:t>7. </a:t>
            </a:r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Gantt </a:t>
            </a:r>
            <a:r>
              <a:rPr lang="en-IN" sz="3400" dirty="0" smtClean="0">
                <a:latin typeface="Times New Roman" pitchFamily="18" charset="0"/>
                <a:cs typeface="Times New Roman" pitchFamily="18" charset="0"/>
              </a:rPr>
              <a:t>Chart</a:t>
            </a:r>
          </a:p>
          <a:p>
            <a:r>
              <a:rPr lang="en-IN" sz="3400" dirty="0" smtClean="0">
                <a:latin typeface="Times New Roman" pitchFamily="18" charset="0"/>
                <a:cs typeface="Times New Roman" pitchFamily="18" charset="0"/>
              </a:rPr>
              <a:t>8.</a:t>
            </a: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 Design specification</a:t>
            </a:r>
            <a:endParaRPr lang="en-IN" sz="3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3400" dirty="0" smtClean="0">
                <a:latin typeface="Times New Roman" pitchFamily="18" charset="0"/>
                <a:cs typeface="Times New Roman" pitchFamily="18" charset="0"/>
              </a:rPr>
              <a:t>9. </a:t>
            </a:r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References. </a:t>
            </a:r>
          </a:p>
          <a:p>
            <a:endParaRPr lang="en-US" dirty="0"/>
          </a:p>
          <a:p>
            <a:pPr>
              <a:buNone/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C370131-8769-C162-D291-6BB43D923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="" xmlns:a16="http://schemas.microsoft.com/office/drawing/2014/main" id="{7F5834AA-6174-E54C-DF66-CB9486EE3C11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="" xmlns:a16="http://schemas.microsoft.com/office/drawing/2014/main" id="{8C492BFC-3473-5C12-794A-A1328734E12E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="" xmlns:a16="http://schemas.microsoft.com/office/drawing/2014/main" id="{C28CE1D3-B83E-121E-97EF-36FCA8E87233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="" xmlns:a16="http://schemas.microsoft.com/office/drawing/2014/main" id="{CA5491F4-0AB7-BA28-E796-7AF44B5752EB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="" xmlns:a16="http://schemas.microsoft.com/office/drawing/2014/main" id="{E58E31F6-4B6A-C73A-A6BD-12602AB2E8C4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="" xmlns:a16="http://schemas.microsoft.com/office/drawing/2014/main" id="{8F738C13-9CD1-C5B5-CFB7-8F9AE2AA1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77AE20C7-3B54-6038-E5C7-62C4741D0B87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="" xmlns:a16="http://schemas.microsoft.com/office/drawing/2014/main" id="{F2906986-3521-411F-45BD-5FF234B0C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7018" y="7776"/>
            <a:ext cx="8229600" cy="1143000"/>
          </a:xfrm>
        </p:spPr>
        <p:txBody>
          <a:bodyPr/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1. INTRODUCTION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="" xmlns:a16="http://schemas.microsoft.com/office/drawing/2014/main" id="{E9BF83CF-64D1-4CEB-6F11-3F0DED070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7064" y="1128174"/>
            <a:ext cx="8229600" cy="557742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Definition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– AI-Enabled Digital Gram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Panchayat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Services System is a smart e-governance platform that provides village services online through a web application.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Village Service Challenges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– Villagers often face difficulties in reporting complaints, checking scheme eligibility, accessing village information, and receiving timely updates due to manual and disconnected systems.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Digital Service Approach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Users can upload issue images, submit complaints, check schemes, and track request status anytime through the portal.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Technology Used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– Developed using MERN Stack (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MongoDB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, Express.js, React.js, Node.js) with AI features using Python and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Scikit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-learn.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Need &amp; Smart Services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– Traditional complaint systems are slow; AI helps automate complaint classification,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chatbot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support, notifications, and faster issue resolution.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8741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A1191B5-7077-7F9D-2900-76247F7E8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="" xmlns:a16="http://schemas.microsoft.com/office/drawing/2014/main" id="{01A54A4C-A9FD-ADB6-5968-DDE1E96495ED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="" xmlns:a16="http://schemas.microsoft.com/office/drawing/2014/main" id="{E75ABCA0-06E4-CCB5-25D2-BA5110B25138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="" xmlns:a16="http://schemas.microsoft.com/office/drawing/2014/main" id="{26CD6D92-77AC-8666-D391-D55876B9372E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="" xmlns:a16="http://schemas.microsoft.com/office/drawing/2014/main" id="{8F8ABA1C-BB78-60D5-B1D9-69478D93EFEE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="" xmlns:a16="http://schemas.microsoft.com/office/drawing/2014/main" id="{047ED61F-2CA0-7366-1CF1-BFC9B3FCFC80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="" xmlns:a16="http://schemas.microsoft.com/office/drawing/2014/main" id="{97B154EF-DD87-4DDF-7D58-032518D45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D79D291-BDA6-3E94-274B-49DBF5836F16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="" xmlns:a16="http://schemas.microsoft.com/office/drawing/2014/main" id="{2E4BEF36-0C32-2D6C-8E79-EF75760E4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8414" y="214290"/>
            <a:ext cx="8229600" cy="1143000"/>
          </a:xfrm>
        </p:spPr>
        <p:txBody>
          <a:bodyPr/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2. LITERATURE SURVEY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="" xmlns:a16="http://schemas.microsoft.com/office/drawing/2014/main" id="{53B41793-7E3D-1410-47A1-73DBA930B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0" y="1706563"/>
            <a:ext cx="8229600" cy="4205064"/>
          </a:xfrm>
        </p:spPr>
        <p:txBody>
          <a:bodyPr>
            <a:normAutofit/>
          </a:bodyPr>
          <a:lstStyle/>
          <a:p>
            <a:pPr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="" xmlns:a16="http://schemas.microsoft.com/office/drawing/2014/main" id="{A411D6C8-B069-AEDB-72A7-F439D402E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211443687"/>
              </p:ext>
            </p:extLst>
          </p:nvPr>
        </p:nvGraphicFramePr>
        <p:xfrm>
          <a:off x="2452662" y="1120916"/>
          <a:ext cx="9001186" cy="5713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3022">
                  <a:extLst>
                    <a:ext uri="{9D8B030D-6E8A-4147-A177-3AD203B41FA5}">
                      <a16:colId xmlns="" xmlns:a16="http://schemas.microsoft.com/office/drawing/2014/main" val="3031133096"/>
                    </a:ext>
                  </a:extLst>
                </a:gridCol>
                <a:gridCol w="2357376">
                  <a:extLst>
                    <a:ext uri="{9D8B030D-6E8A-4147-A177-3AD203B41FA5}">
                      <a16:colId xmlns="" xmlns:a16="http://schemas.microsoft.com/office/drawing/2014/main" val="1934286308"/>
                    </a:ext>
                  </a:extLst>
                </a:gridCol>
                <a:gridCol w="1411768">
                  <a:extLst>
                    <a:ext uri="{9D8B030D-6E8A-4147-A177-3AD203B41FA5}">
                      <a16:colId xmlns="" xmlns:a16="http://schemas.microsoft.com/office/drawing/2014/main" val="1250469601"/>
                    </a:ext>
                  </a:extLst>
                </a:gridCol>
                <a:gridCol w="1420601">
                  <a:extLst>
                    <a:ext uri="{9D8B030D-6E8A-4147-A177-3AD203B41FA5}">
                      <a16:colId xmlns="" xmlns:a16="http://schemas.microsoft.com/office/drawing/2014/main" val="1003763719"/>
                    </a:ext>
                  </a:extLst>
                </a:gridCol>
                <a:gridCol w="1668222">
                  <a:extLst>
                    <a:ext uri="{9D8B030D-6E8A-4147-A177-3AD203B41FA5}">
                      <a16:colId xmlns="" xmlns:a16="http://schemas.microsoft.com/office/drawing/2014/main" val="225965863"/>
                    </a:ext>
                  </a:extLst>
                </a:gridCol>
                <a:gridCol w="1500197">
                  <a:extLst>
                    <a:ext uri="{9D8B030D-6E8A-4147-A177-3AD203B41FA5}">
                      <a16:colId xmlns="" xmlns:a16="http://schemas.microsoft.com/office/drawing/2014/main" val="1280028463"/>
                    </a:ext>
                  </a:extLst>
                </a:gridCol>
              </a:tblGrid>
              <a:tr h="17169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800" b="1" kern="1200" dirty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S.N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800" b="1" kern="1200" dirty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Paper title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kern="1200" dirty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Publication details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800" b="1" kern="1200" dirty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Name of the Authors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800" b="1" kern="1200" dirty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Findings/Technical ideas discussed in the 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800" b="1" kern="1200" dirty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Observations/Shortfalls and solution provided in the proposed methodology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28140503"/>
                  </a:ext>
                </a:extLst>
              </a:tr>
              <a:tr h="1988044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E-Gram </a:t>
                      </a:r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Panchayat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IEEE </a:t>
                      </a:r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NKCon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, 2023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Keerti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Patil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 et al.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Web app for services, schemes, admin modules, status tracking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No AI support → Add </a:t>
                      </a:r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chatbot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, updates, multilingual access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425147947"/>
                  </a:ext>
                </a:extLst>
              </a:tr>
              <a:tr h="1988044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CitySolution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: A Complaining Task Distributive Mobile Application for Smart City Corporation using Deep Learning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arXiv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, 2024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Farhatun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Shama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, Abdul Aziz, </a:t>
                      </a:r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Lamisa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Bintee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Mizan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Deya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Deep learning complaint classification, image upload, authority monitoring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Limited to complaints → Add schemes, transparency dashboard, </a:t>
                      </a:r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chatbot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654649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A1191B5-7077-7F9D-2900-76247F7E8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="" xmlns:a16="http://schemas.microsoft.com/office/drawing/2014/main" id="{01A54A4C-A9FD-ADB6-5968-DDE1E96495ED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="" xmlns:a16="http://schemas.microsoft.com/office/drawing/2014/main" id="{E75ABCA0-06E4-CCB5-25D2-BA5110B25138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="" xmlns:a16="http://schemas.microsoft.com/office/drawing/2014/main" id="{26CD6D92-77AC-8666-D391-D55876B9372E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="" xmlns:a16="http://schemas.microsoft.com/office/drawing/2014/main" id="{8F8ABA1C-BB78-60D5-B1D9-69478D93EFEE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="" xmlns:a16="http://schemas.microsoft.com/office/drawing/2014/main" id="{047ED61F-2CA0-7366-1CF1-BFC9B3FCFC80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="" xmlns:a16="http://schemas.microsoft.com/office/drawing/2014/main" id="{97B154EF-DD87-4DDF-7D58-032518D45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D79D291-BDA6-3E94-274B-49DBF5836F16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="" xmlns:a16="http://schemas.microsoft.com/office/drawing/2014/main" id="{2E4BEF36-0C32-2D6C-8E79-EF75760E4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76" y="214290"/>
            <a:ext cx="8229600" cy="1143000"/>
          </a:xfrm>
        </p:spPr>
        <p:txBody>
          <a:bodyPr/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2. LITERATURE SURVEY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="" xmlns:a16="http://schemas.microsoft.com/office/drawing/2014/main" id="{53B41793-7E3D-1410-47A1-73DBA930B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0" y="1706563"/>
            <a:ext cx="8229600" cy="4205064"/>
          </a:xfrm>
        </p:spPr>
        <p:txBody>
          <a:bodyPr>
            <a:normAutofit/>
          </a:bodyPr>
          <a:lstStyle/>
          <a:p>
            <a:pPr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="" xmlns:a16="http://schemas.microsoft.com/office/drawing/2014/main" id="{A411D6C8-B069-AEDB-72A7-F439D402E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211443687"/>
              </p:ext>
            </p:extLst>
          </p:nvPr>
        </p:nvGraphicFramePr>
        <p:xfrm>
          <a:off x="2524100" y="1142984"/>
          <a:ext cx="892975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918">
                  <a:extLst>
                    <a:ext uri="{9D8B030D-6E8A-4147-A177-3AD203B41FA5}">
                      <a16:colId xmlns="" xmlns:a16="http://schemas.microsoft.com/office/drawing/2014/main" val="3031133096"/>
                    </a:ext>
                  </a:extLst>
                </a:gridCol>
                <a:gridCol w="2338668">
                  <a:extLst>
                    <a:ext uri="{9D8B030D-6E8A-4147-A177-3AD203B41FA5}">
                      <a16:colId xmlns="" xmlns:a16="http://schemas.microsoft.com/office/drawing/2014/main" val="1934286308"/>
                    </a:ext>
                  </a:extLst>
                </a:gridCol>
                <a:gridCol w="1238256">
                  <a:extLst>
                    <a:ext uri="{9D8B030D-6E8A-4147-A177-3AD203B41FA5}">
                      <a16:colId xmlns="" xmlns:a16="http://schemas.microsoft.com/office/drawing/2014/main" val="1250469601"/>
                    </a:ext>
                  </a:extLst>
                </a:gridCol>
                <a:gridCol w="1571636">
                  <a:extLst>
                    <a:ext uri="{9D8B030D-6E8A-4147-A177-3AD203B41FA5}">
                      <a16:colId xmlns="" xmlns:a16="http://schemas.microsoft.com/office/drawing/2014/main" val="1003763719"/>
                    </a:ext>
                  </a:extLst>
                </a:gridCol>
                <a:gridCol w="1654981">
                  <a:extLst>
                    <a:ext uri="{9D8B030D-6E8A-4147-A177-3AD203B41FA5}">
                      <a16:colId xmlns="" xmlns:a16="http://schemas.microsoft.com/office/drawing/2014/main" val="225965863"/>
                    </a:ext>
                  </a:extLst>
                </a:gridCol>
                <a:gridCol w="1488291">
                  <a:extLst>
                    <a:ext uri="{9D8B030D-6E8A-4147-A177-3AD203B41FA5}">
                      <a16:colId xmlns="" xmlns:a16="http://schemas.microsoft.com/office/drawing/2014/main" val="1280028463"/>
                    </a:ext>
                  </a:extLst>
                </a:gridCol>
              </a:tblGrid>
              <a:tr h="150312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800" b="1" kern="1200" dirty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S.N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800" b="1" kern="1200" dirty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Paper title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kern="1200" dirty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Publication details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800" b="1" kern="1200" dirty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Name of the Authors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800" b="1" kern="1200" dirty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Findings/Technical ideas discussed in the 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800" b="1" kern="1200" dirty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Observations/Shortfalls and solution provided in the proposed methodology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28140503"/>
                  </a:ext>
                </a:extLst>
              </a:tr>
              <a:tr h="1740462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Digital Gram </a:t>
                      </a:r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Panchayat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IJRASET, 2024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Parade et al.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Digital </a:t>
                      </a:r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Panchayat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 services, grievance handling, transparency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Limited smart automation → Add AI complaint classification and eligibility checker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280830402"/>
                  </a:ext>
                </a:extLst>
              </a:tr>
              <a:tr h="1685634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The Influence of Institutional Capacity on the Implementation of Smart Villages in Village Development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Indonesian Journal of Social Research, 2025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Rita </a:t>
                      </a:r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Rahmawati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 et al.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latin typeface="Times New Roman" pitchFamily="18" charset="0"/>
                          <a:cs typeface="Times New Roman" pitchFamily="18" charset="0"/>
                        </a:rPr>
                        <a:t>Smart village </a:t>
                      </a:r>
                      <a:r>
                        <a:rPr lang="fr-FR" dirty="0" err="1" smtClean="0">
                          <a:latin typeface="Times New Roman" pitchFamily="18" charset="0"/>
                          <a:cs typeface="Times New Roman" pitchFamily="18" charset="0"/>
                        </a:rPr>
                        <a:t>implementation</a:t>
                      </a:r>
                      <a:r>
                        <a:rPr lang="fr-FR" dirty="0" smtClean="0">
                          <a:latin typeface="Times New Roman" pitchFamily="18" charset="0"/>
                          <a:cs typeface="Times New Roman" pitchFamily="18" charset="0"/>
                        </a:rPr>
                        <a:t>, digital participation, village </a:t>
                      </a:r>
                      <a:r>
                        <a:rPr lang="fr-FR" dirty="0" err="1" smtClean="0">
                          <a:latin typeface="Times New Roman" pitchFamily="18" charset="0"/>
                          <a:cs typeface="Times New Roman" pitchFamily="18" charset="0"/>
                        </a:rPr>
                        <a:t>development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Infra and network issues → Add centralized smart portal and alerts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654649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A1191B5-7077-7F9D-2900-76247F7E8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="" xmlns:a16="http://schemas.microsoft.com/office/drawing/2014/main" id="{01A54A4C-A9FD-ADB6-5968-DDE1E96495ED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="" xmlns:a16="http://schemas.microsoft.com/office/drawing/2014/main" id="{E75ABCA0-06E4-CCB5-25D2-BA5110B25138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="" xmlns:a16="http://schemas.microsoft.com/office/drawing/2014/main" id="{26CD6D92-77AC-8666-D391-D55876B9372E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="" xmlns:a16="http://schemas.microsoft.com/office/drawing/2014/main" id="{8F8ABA1C-BB78-60D5-B1D9-69478D93EFEE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="" xmlns:a16="http://schemas.microsoft.com/office/drawing/2014/main" id="{047ED61F-2CA0-7366-1CF1-BFC9B3FCFC80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="" xmlns:a16="http://schemas.microsoft.com/office/drawing/2014/main" id="{97B154EF-DD87-4DDF-7D58-032518D45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D79D291-BDA6-3E94-274B-49DBF5836F16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="" xmlns:a16="http://schemas.microsoft.com/office/drawing/2014/main" id="{2E4BEF36-0C32-2D6C-8E79-EF75760E4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381000"/>
            <a:ext cx="8229600" cy="1143000"/>
          </a:xfrm>
        </p:spPr>
        <p:txBody>
          <a:bodyPr/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2. LITERATURE SURVEY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="" xmlns:a16="http://schemas.microsoft.com/office/drawing/2014/main" id="{53B41793-7E3D-1410-47A1-73DBA930B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0" y="1706563"/>
            <a:ext cx="8229600" cy="4205064"/>
          </a:xfrm>
        </p:spPr>
        <p:txBody>
          <a:bodyPr>
            <a:normAutofit/>
          </a:bodyPr>
          <a:lstStyle/>
          <a:p>
            <a:pPr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="" xmlns:a16="http://schemas.microsoft.com/office/drawing/2014/main" id="{A411D6C8-B069-AEDB-72A7-F439D402E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211443687"/>
              </p:ext>
            </p:extLst>
          </p:nvPr>
        </p:nvGraphicFramePr>
        <p:xfrm>
          <a:off x="2524100" y="1285861"/>
          <a:ext cx="892975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918">
                  <a:extLst>
                    <a:ext uri="{9D8B030D-6E8A-4147-A177-3AD203B41FA5}">
                      <a16:colId xmlns="" xmlns:a16="http://schemas.microsoft.com/office/drawing/2014/main" val="3031133096"/>
                    </a:ext>
                  </a:extLst>
                </a:gridCol>
                <a:gridCol w="2338668">
                  <a:extLst>
                    <a:ext uri="{9D8B030D-6E8A-4147-A177-3AD203B41FA5}">
                      <a16:colId xmlns="" xmlns:a16="http://schemas.microsoft.com/office/drawing/2014/main" val="1934286308"/>
                    </a:ext>
                  </a:extLst>
                </a:gridCol>
                <a:gridCol w="1238256">
                  <a:extLst>
                    <a:ext uri="{9D8B030D-6E8A-4147-A177-3AD203B41FA5}">
                      <a16:colId xmlns="" xmlns:a16="http://schemas.microsoft.com/office/drawing/2014/main" val="1250469601"/>
                    </a:ext>
                  </a:extLst>
                </a:gridCol>
                <a:gridCol w="1571636">
                  <a:extLst>
                    <a:ext uri="{9D8B030D-6E8A-4147-A177-3AD203B41FA5}">
                      <a16:colId xmlns="" xmlns:a16="http://schemas.microsoft.com/office/drawing/2014/main" val="1003763719"/>
                    </a:ext>
                  </a:extLst>
                </a:gridCol>
                <a:gridCol w="1654981">
                  <a:extLst>
                    <a:ext uri="{9D8B030D-6E8A-4147-A177-3AD203B41FA5}">
                      <a16:colId xmlns="" xmlns:a16="http://schemas.microsoft.com/office/drawing/2014/main" val="225965863"/>
                    </a:ext>
                  </a:extLst>
                </a:gridCol>
                <a:gridCol w="1488291">
                  <a:extLst>
                    <a:ext uri="{9D8B030D-6E8A-4147-A177-3AD203B41FA5}">
                      <a16:colId xmlns="" xmlns:a16="http://schemas.microsoft.com/office/drawing/2014/main" val="1280028463"/>
                    </a:ext>
                  </a:extLst>
                </a:gridCol>
              </a:tblGrid>
              <a:tr h="150312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800" b="1" kern="1200" dirty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S.N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800" b="1" kern="1200" dirty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Paper title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kern="1200" dirty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Publication details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800" b="1" kern="1200" dirty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Name of the Authors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800" b="1" kern="1200" dirty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Findings/Technical ideas discussed in the 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800" b="1" kern="1200" dirty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Observations/Shortfalls and solution provided in the proposed methodology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28140503"/>
                  </a:ext>
                </a:extLst>
              </a:tr>
              <a:tr h="1740462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GramConnect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: A Digital Platform for Gram </a:t>
                      </a:r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Panchayat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 Services with </a:t>
                      </a:r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Chatbot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 Support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IEEE IC3ET, 2026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Bhushan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Naikwade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 et al.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Chatbot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 support, complaint portal, multilingual services, alerts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Weak analytics → Add transparency dashboard and AI-based suggestions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280830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654649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FACE3B9-70B5-C12B-8173-E1D564AF3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="" xmlns:a16="http://schemas.microsoft.com/office/drawing/2014/main" id="{42CDF674-B903-C651-9485-60472524865F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="" xmlns:a16="http://schemas.microsoft.com/office/drawing/2014/main" id="{E350FAF1-9D3C-2DD7-2D37-E2DFE012580D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="" xmlns:a16="http://schemas.microsoft.com/office/drawing/2014/main" id="{AAED04E2-E6DE-D215-C813-40A85B6A2A30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="" xmlns:a16="http://schemas.microsoft.com/office/drawing/2014/main" id="{55BDF708-F641-BC47-B249-2CC1E30A6A9D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="" xmlns:a16="http://schemas.microsoft.com/office/drawing/2014/main" id="{1C6C5A9D-2C48-201F-6B38-F1B3BEC4B955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="" xmlns:a16="http://schemas.microsoft.com/office/drawing/2014/main" id="{799AA383-F4B7-DA57-988F-13D5B40F6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5BFF8F8F-3060-61C0-7033-8BA6CEAE1CD6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="" xmlns:a16="http://schemas.microsoft.com/office/drawing/2014/main" id="{D5F8ADC8-E526-6BD1-D994-5624E4986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1224" y="214290"/>
            <a:ext cx="8229600" cy="1143000"/>
          </a:xfrm>
        </p:spPr>
        <p:txBody>
          <a:bodyPr>
            <a:noAutofit/>
          </a:bodyPr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3. PROBLEM STATEMENT &amp; OBJECTIVES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="" xmlns:a16="http://schemas.microsoft.com/office/drawing/2014/main" id="{8F3CF4BE-9305-F1CF-8F16-CD1B94275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2662" y="1285860"/>
            <a:ext cx="8929750" cy="5857914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Problem Statement</a:t>
            </a:r>
          </a:p>
          <a:p>
            <a:pPr>
              <a:lnSpc>
                <a:spcPct val="16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Villagers face difficulties in reporting local issues, accessing government schemes, and obtaining public service information due to manual and disconnected systems. </a:t>
            </a:r>
          </a:p>
          <a:p>
            <a:pPr>
              <a:lnSpc>
                <a:spcPct val="160000"/>
              </a:lnSpc>
              <a:buNone/>
            </a:pP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Objectives</a:t>
            </a:r>
          </a:p>
          <a:p>
            <a:pPr>
              <a:lnSpc>
                <a:spcPct val="160000"/>
              </a:lnSpc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• Develop a smart village service portal where users can upload complaints and access village-related services online.</a:t>
            </a:r>
          </a:p>
          <a:p>
            <a:pPr>
              <a:lnSpc>
                <a:spcPct val="160000"/>
              </a:lnSpc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• Develop a portal where users can check eligibility, upload required documents, and receive personalized recommendations for applicable government schemes online.</a:t>
            </a:r>
          </a:p>
          <a:p>
            <a:pPr algn="just">
              <a:lnSpc>
                <a:spcPct val="160000"/>
              </a:lnSpc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• Develop a transparency dashboard where villagers can view ongoing projects, budgets, completed works, and public service updates online.</a:t>
            </a:r>
          </a:p>
          <a:p>
            <a:pPr>
              <a:lnSpc>
                <a:spcPct val="160000"/>
              </a:lnSpc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• Develop a smart communication system with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chatbot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and notification support to provide complaint updates, announcements, and village information to users.</a:t>
            </a:r>
          </a:p>
          <a:p>
            <a:pPr>
              <a:lnSpc>
                <a:spcPct val="160000"/>
              </a:lnSpc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="" xmlns:p14="http://schemas.microsoft.com/office/powerpoint/2010/main" val="3450761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2A3A9E5-8CF5-B5D4-84BA-67E521CA6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="" xmlns:a16="http://schemas.microsoft.com/office/drawing/2014/main" id="{65744E57-2A26-7AFB-2BE6-8A482EDA17C8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="" xmlns:a16="http://schemas.microsoft.com/office/drawing/2014/main" id="{58AC264C-D43F-8506-C4B2-0966D3F01B13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="" xmlns:a16="http://schemas.microsoft.com/office/drawing/2014/main" id="{C63568BD-21ED-F24E-C11D-8C620FFD5630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="" xmlns:a16="http://schemas.microsoft.com/office/drawing/2014/main" id="{7F60B3BD-B0C8-0BA5-30A4-BC1CF57FA43F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="" xmlns:a16="http://schemas.microsoft.com/office/drawing/2014/main" id="{0F64DC7B-EC75-0558-94F4-839BE8CF72D9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="" xmlns:a16="http://schemas.microsoft.com/office/drawing/2014/main" id="{876CBA86-574C-260F-2A78-D23D17598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E8EA56A-E50A-D453-02BD-4BC39703B98C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="" xmlns:a16="http://schemas.microsoft.com/office/drawing/2014/main" id="{5A43D123-6F99-2B3F-CE5B-FAE3FEB85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8414" y="214290"/>
            <a:ext cx="8643998" cy="1143000"/>
          </a:xfrm>
        </p:spPr>
        <p:txBody>
          <a:bodyPr>
            <a:noAutofit/>
          </a:bodyPr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PROPOSED METHODOLOGY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="" xmlns:a16="http://schemas.microsoft.com/office/drawing/2014/main" id="{1FBB8C5E-7F3D-C5C5-5EDE-00388B056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4100" y="1357298"/>
            <a:ext cx="9001188" cy="5500702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Users register and log in to access the smart village portal.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portal provides multiple services such as complaint submission, scheme recommendation, announcements, dashboard access,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support, and document upload.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validates user details, uploaded files, complaints, and scheme information before processing.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 modules categorize complaints, recommend suitable schemes, handle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queries, and generate notifications.</a:t>
            </a:r>
          </a:p>
          <a:p>
            <a:pPr algn="just">
              <a:lnSpc>
                <a:spcPct val="150000"/>
              </a:lnSpc>
            </a:pP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stores complaints, user records, applications, notifications, and village-related information securely.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Admin users monitor complaints, verify applications, update village projects, and publish announcements through the admin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receive complaint status updates, scheme eligibility results, announcements, and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responses through the portal.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06863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2A3A9E5-8CF5-B5D4-84BA-67E521CA6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="" xmlns:a16="http://schemas.microsoft.com/office/drawing/2014/main" id="{65744E57-2A26-7AFB-2BE6-8A482EDA17C8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="" xmlns:a16="http://schemas.microsoft.com/office/drawing/2014/main" id="{58AC264C-D43F-8506-C4B2-0966D3F01B13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" name="Group 19">
            <a:extLst>
              <a:ext uri="{FF2B5EF4-FFF2-40B4-BE49-F238E27FC236}">
                <a16:creationId xmlns="" xmlns:a16="http://schemas.microsoft.com/office/drawing/2014/main" id="{C63568BD-21ED-F24E-C11D-8C620FFD5630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="" xmlns:a16="http://schemas.microsoft.com/office/drawing/2014/main" id="{7F60B3BD-B0C8-0BA5-30A4-BC1CF57FA43F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="" xmlns:a16="http://schemas.microsoft.com/office/drawing/2014/main" id="{0F64DC7B-EC75-0558-94F4-839BE8CF72D9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="" xmlns:a16="http://schemas.microsoft.com/office/drawing/2014/main" id="{876CBA86-574C-260F-2A78-D23D17598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E8EA56A-E50A-D453-02BD-4BC39703B98C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="" xmlns:a16="http://schemas.microsoft.com/office/drawing/2014/main" id="{5A43D123-6F99-2B3F-CE5B-FAE3FEB85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8414" y="214290"/>
            <a:ext cx="8643998" cy="1143000"/>
          </a:xfrm>
        </p:spPr>
        <p:txBody>
          <a:bodyPr>
            <a:noAutofit/>
          </a:bodyPr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PROPOSED METHODOLOGY</a:t>
            </a:r>
          </a:p>
        </p:txBody>
      </p:sp>
      <p:pic>
        <p:nvPicPr>
          <p:cNvPr id="11" name="Content Placeholder 10" descr="WhatsApp Image 2026-05-18 at 3.26.45 PM.jpeg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095604" y="1162879"/>
            <a:ext cx="7598740" cy="5695122"/>
          </a:xfrm>
        </p:spPr>
      </p:pic>
    </p:spTree>
    <p:extLst>
      <p:ext uri="{BB962C8B-B14F-4D97-AF65-F5344CB8AC3E}">
        <p14:creationId xmlns="" xmlns:p14="http://schemas.microsoft.com/office/powerpoint/2010/main" val="1306863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FBF1214-E16B-9D71-85BA-A857BA81E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="" xmlns:a16="http://schemas.microsoft.com/office/drawing/2014/main" id="{33782654-BAF0-5675-C629-5285984C1E6F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="" xmlns:a16="http://schemas.microsoft.com/office/drawing/2014/main" id="{0F367AB3-B151-FBD3-F805-BEC14A878AB0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="" xmlns:a16="http://schemas.microsoft.com/office/drawing/2014/main" id="{491A7158-1D7D-C630-8DB3-BA7367A8E62C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="" xmlns:a16="http://schemas.microsoft.com/office/drawing/2014/main" id="{C5B87224-F47F-CFC5-05B3-17E557039DC6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="" xmlns:a16="http://schemas.microsoft.com/office/drawing/2014/main" id="{0EC23A03-6BE9-D575-9658-C9713760DC72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="" xmlns:a16="http://schemas.microsoft.com/office/drawing/2014/main" id="{BC3F04AF-76A3-54E6-B011-F683FBB057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9DDF40D-4FA1-CF3D-D1A5-EC9F9035B810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="" xmlns:a16="http://schemas.microsoft.com/office/drawing/2014/main" id="{986D7F8E-85D3-88F5-2826-DD4087EAF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-76200"/>
            <a:ext cx="8229600" cy="1143000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DELIVERABLES &amp; IMPACT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="" xmlns:a16="http://schemas.microsoft.com/office/drawing/2014/main" id="{83606163-D68C-6A53-2F40-0E1872048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538" y="785794"/>
            <a:ext cx="8229600" cy="5692187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endParaRPr lang="en-IN" dirty="0"/>
          </a:p>
          <a:p>
            <a:pPr marL="0" indent="0">
              <a:buNone/>
            </a:pPr>
            <a:r>
              <a:rPr lang="en-US" sz="7200" b="1" dirty="0">
                <a:latin typeface="Times New Roman" pitchFamily="18" charset="0"/>
                <a:cs typeface="Times New Roman" pitchFamily="18" charset="0"/>
              </a:rPr>
              <a:t>Deliverables</a:t>
            </a:r>
            <a:r>
              <a:rPr lang="en-US" sz="7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72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70000"/>
              </a:lnSpc>
              <a:buNone/>
            </a:pPr>
            <a:r>
              <a:rPr lang="en-US" sz="7200" dirty="0" smtClean="0">
                <a:latin typeface="Times New Roman" pitchFamily="18" charset="0"/>
                <a:cs typeface="Times New Roman" pitchFamily="18" charset="0"/>
              </a:rPr>
              <a:t>• AI-enabled Smart Village Service portal prototype.</a:t>
            </a:r>
          </a:p>
          <a:p>
            <a:pPr>
              <a:lnSpc>
                <a:spcPct val="170000"/>
              </a:lnSpc>
              <a:buNone/>
            </a:pPr>
            <a:r>
              <a:rPr lang="en-US" sz="7200" dirty="0" smtClean="0">
                <a:latin typeface="Times New Roman" pitchFamily="18" charset="0"/>
                <a:cs typeface="Times New Roman" pitchFamily="18" charset="0"/>
              </a:rPr>
              <a:t>• Online modules for complaints, schemes, village notices, and transparency.</a:t>
            </a:r>
          </a:p>
          <a:p>
            <a:pPr>
              <a:lnSpc>
                <a:spcPct val="170000"/>
              </a:lnSpc>
              <a:buNone/>
            </a:pPr>
            <a:r>
              <a:rPr lang="en-US" sz="7200" dirty="0" smtClean="0">
                <a:latin typeface="Times New Roman" pitchFamily="18" charset="0"/>
                <a:cs typeface="Times New Roman" pitchFamily="18" charset="0"/>
              </a:rPr>
              <a:t>• Web application using MERN Stack for villagers and admin users.</a:t>
            </a:r>
          </a:p>
          <a:p>
            <a:pPr>
              <a:lnSpc>
                <a:spcPct val="170000"/>
              </a:lnSpc>
              <a:buNone/>
            </a:pPr>
            <a:r>
              <a:rPr lang="en-US" sz="7200" dirty="0" smtClean="0">
                <a:latin typeface="Times New Roman" pitchFamily="18" charset="0"/>
                <a:cs typeface="Times New Roman" pitchFamily="18" charset="0"/>
              </a:rPr>
              <a:t>• Admin dashboard for monitoring complaints and updating status.</a:t>
            </a:r>
          </a:p>
          <a:p>
            <a:pPr>
              <a:lnSpc>
                <a:spcPct val="170000"/>
              </a:lnSpc>
              <a:buNone/>
            </a:pPr>
            <a:r>
              <a:rPr lang="en-US" sz="7200" dirty="0" smtClean="0">
                <a:latin typeface="Times New Roman" pitchFamily="18" charset="0"/>
                <a:cs typeface="Times New Roman" pitchFamily="18" charset="0"/>
              </a:rPr>
              <a:t>• Complete project documentation and system report.</a:t>
            </a:r>
            <a:endParaRPr lang="en-US" sz="7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7200" b="1" dirty="0">
                <a:latin typeface="Times New Roman" pitchFamily="18" charset="0"/>
                <a:cs typeface="Times New Roman" pitchFamily="18" charset="0"/>
              </a:rPr>
              <a:t>Impact</a:t>
            </a:r>
            <a:r>
              <a:rPr lang="en-US" sz="7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72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70000"/>
              </a:lnSpc>
              <a:buNone/>
            </a:pPr>
            <a:r>
              <a:rPr lang="en-US" sz="7200" dirty="0" smtClean="0">
                <a:latin typeface="Times New Roman" pitchFamily="18" charset="0"/>
                <a:cs typeface="Times New Roman" pitchFamily="18" charset="0"/>
              </a:rPr>
              <a:t>• Improves village problem reporting through digital access.</a:t>
            </a:r>
          </a:p>
          <a:p>
            <a:pPr algn="just">
              <a:lnSpc>
                <a:spcPct val="170000"/>
              </a:lnSpc>
              <a:buNone/>
            </a:pPr>
            <a:r>
              <a:rPr lang="en-US" sz="7200" dirty="0" smtClean="0">
                <a:latin typeface="Times New Roman" pitchFamily="18" charset="0"/>
                <a:cs typeface="Times New Roman" pitchFamily="18" charset="0"/>
              </a:rPr>
              <a:t>• Reduces manual work and complaint processing delays.</a:t>
            </a:r>
          </a:p>
          <a:p>
            <a:pPr algn="just">
              <a:lnSpc>
                <a:spcPct val="170000"/>
              </a:lnSpc>
              <a:buNone/>
            </a:pPr>
            <a:r>
              <a:rPr lang="en-US" sz="7200" dirty="0" smtClean="0">
                <a:latin typeface="Times New Roman" pitchFamily="18" charset="0"/>
                <a:cs typeface="Times New Roman" pitchFamily="18" charset="0"/>
              </a:rPr>
              <a:t>• Increases transparency between villagers and admin users.</a:t>
            </a:r>
          </a:p>
          <a:p>
            <a:pPr algn="just">
              <a:lnSpc>
                <a:spcPct val="170000"/>
              </a:lnSpc>
              <a:buNone/>
            </a:pPr>
            <a:r>
              <a:rPr lang="en-US" sz="7200" dirty="0" smtClean="0">
                <a:latin typeface="Times New Roman" pitchFamily="18" charset="0"/>
                <a:cs typeface="Times New Roman" pitchFamily="18" charset="0"/>
              </a:rPr>
              <a:t>• Supports smart village services using AI and automation.</a:t>
            </a:r>
          </a:p>
          <a:p>
            <a:pPr algn="just">
              <a:lnSpc>
                <a:spcPct val="170000"/>
              </a:lnSpc>
              <a:buNone/>
            </a:pPr>
            <a:r>
              <a:rPr lang="en-US" sz="7200" dirty="0" smtClean="0">
                <a:latin typeface="Times New Roman" pitchFamily="18" charset="0"/>
                <a:cs typeface="Times New Roman" pitchFamily="18" charset="0"/>
              </a:rPr>
              <a:t>• Saves time through online tracking and notification updates.</a:t>
            </a:r>
          </a:p>
          <a:p>
            <a:pPr marL="0" indent="0">
              <a:buNone/>
            </a:pPr>
            <a:endParaRPr lang="en-US" sz="7200" dirty="0"/>
          </a:p>
        </p:txBody>
      </p:sp>
    </p:spTree>
    <p:extLst>
      <p:ext uri="{BB962C8B-B14F-4D97-AF65-F5344CB8AC3E}">
        <p14:creationId xmlns="" xmlns:p14="http://schemas.microsoft.com/office/powerpoint/2010/main" val="30993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AE08C3C-729F-143F-05F3-865EA8F17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="" xmlns:a16="http://schemas.microsoft.com/office/drawing/2014/main" id="{D1CCD5F9-022B-26B9-D016-E69F8FEAC27C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="" xmlns:a16="http://schemas.microsoft.com/office/drawing/2014/main" id="{72CEAA36-4F98-A5E3-21EB-BCAB7CED6B84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="" xmlns:a16="http://schemas.microsoft.com/office/drawing/2014/main" id="{C5EA508B-7601-7D7C-4332-009AFD3BBB86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="" xmlns:a16="http://schemas.microsoft.com/office/drawing/2014/main" id="{69939A7F-AE7F-4489-33B4-6E679FF55AAC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="" xmlns:a16="http://schemas.microsoft.com/office/drawing/2014/main" id="{C676C4CE-78D7-9CE5-4692-DB48A3FDA710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="" xmlns:a16="http://schemas.microsoft.com/office/drawing/2014/main" id="{12694F44-B5EA-6865-A3EF-A31E817E0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75EBA65F-2C0D-D886-4D9F-5EC2AEA9BB82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="" xmlns:a16="http://schemas.microsoft.com/office/drawing/2014/main" id="{61655146-E348-0106-92F9-9C4649A99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6563" y="152400"/>
            <a:ext cx="8908337" cy="1143000"/>
          </a:xfrm>
        </p:spPr>
        <p:txBody>
          <a:bodyPr>
            <a:noAutofit/>
          </a:bodyPr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GROUP MEMBERS INDIVIDUAL RESPONSIBLITIES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="" xmlns:a16="http://schemas.microsoft.com/office/drawing/2014/main" id="{9B25F49E-C9CF-EE9E-6B0A-81A2946EE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538" y="1295408"/>
            <a:ext cx="8377262" cy="5419740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70000"/>
              </a:lnSpc>
              <a:buNone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•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 Member 1 (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Harshith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) –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Frontend Development</a:t>
            </a:r>
          </a:p>
          <a:p>
            <a:pPr algn="just">
              <a:lnSpc>
                <a:spcPct val="170000"/>
              </a:lnSpc>
              <a:buNone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	Develops the user interface using React.js, designs pages for user registration, login, issue reporting, and status tracking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70000"/>
              </a:lnSpc>
              <a:buNone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• Member 2 (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Darshan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)–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Backend Development</a:t>
            </a:r>
          </a:p>
          <a:p>
            <a:pPr algn="just">
              <a:lnSpc>
                <a:spcPct val="170000"/>
              </a:lnSpc>
              <a:buNone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	Implements Node.js and Express APIs, handles server logic, authentication, and communication between frontend and database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70000"/>
              </a:lnSpc>
              <a:buNone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Member 3 (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Shailaja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)–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Database Management</a:t>
            </a:r>
          </a:p>
          <a:p>
            <a:pPr algn="just">
              <a:lnSpc>
                <a:spcPct val="170000"/>
              </a:lnSpc>
              <a:buNone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Designs and manages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MongoDB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database, stores user data, applications, complaints, and service records.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70000"/>
              </a:lnSpc>
              <a:buNone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Member 4 (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Shankar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)–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AI Model Development &amp; Integration</a:t>
            </a:r>
          </a:p>
          <a:p>
            <a:pPr algn="just">
              <a:lnSpc>
                <a:spcPct val="170000"/>
              </a:lnSpc>
              <a:buNone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Develops AI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chatbot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voice input, and smart automation using Python/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Scikit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-learn and integrates it with the backend system.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27917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CAF1579-E698-9B04-A15D-E61E9BC79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="" xmlns:a16="http://schemas.microsoft.com/office/drawing/2014/main" id="{13A333A7-C3C8-48C3-8AB0-FA2055B91205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="" xmlns:a16="http://schemas.microsoft.com/office/drawing/2014/main" id="{0A25D679-2676-B697-D723-E86B6B3E2C6B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" name="Group 19">
            <a:extLst>
              <a:ext uri="{FF2B5EF4-FFF2-40B4-BE49-F238E27FC236}">
                <a16:creationId xmlns="" xmlns:a16="http://schemas.microsoft.com/office/drawing/2014/main" id="{D529A9A7-D818-392F-2DB5-BB907E5B7B98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="" xmlns:a16="http://schemas.microsoft.com/office/drawing/2014/main" id="{F7AF45D7-A7F4-EE63-6BB3-EDC5F32EF6BA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="" xmlns:a16="http://schemas.microsoft.com/office/drawing/2014/main" id="{08801838-020A-894C-787D-6695ABEB6437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="" xmlns:a16="http://schemas.microsoft.com/office/drawing/2014/main" id="{6918292C-7446-AC13-9C11-871A153004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AE25BAF-F86C-94FF-8708-A74166F9D54E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="" xmlns:a16="http://schemas.microsoft.com/office/drawing/2014/main" id="{2108EABF-50FE-E84C-F562-C1B7C7572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6583" y="381000"/>
            <a:ext cx="8761017" cy="1143000"/>
          </a:xfrm>
        </p:spPr>
        <p:txBody>
          <a:bodyPr>
            <a:noAutofit/>
          </a:bodyPr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7.Gantt Chart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="" xmlns:a16="http://schemas.microsoft.com/office/drawing/2014/main" id="{774ADFC5-D60D-54E6-27A9-746597E16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0" y="1706563"/>
            <a:ext cx="8229600" cy="4205064"/>
          </a:xfrm>
        </p:spPr>
        <p:txBody>
          <a:bodyPr>
            <a:normAutofit/>
          </a:bodyPr>
          <a:lstStyle/>
          <a:p>
            <a:pPr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1" name="Picture 10" descr="ChatGPT Image Mar 30, 2026, 09_31_29 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8414" y="1214422"/>
            <a:ext cx="7858180" cy="5238787"/>
          </a:xfrm>
          <a:prstGeom prst="rect">
            <a:avLst/>
          </a:prstGeom>
        </p:spPr>
      </p:pic>
      <p:sp>
        <p:nvSpPr>
          <p:cNvPr id="5122" name="AutoShape 2" descr="Generated image: Gantt chart of software project timelin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513316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CAF1579-E698-9B04-A15D-E61E9BC79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="" xmlns:a16="http://schemas.microsoft.com/office/drawing/2014/main" id="{13A333A7-C3C8-48C3-8AB0-FA2055B91205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="" xmlns:a16="http://schemas.microsoft.com/office/drawing/2014/main" id="{0A25D679-2676-B697-D723-E86B6B3E2C6B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" name="Group 19">
            <a:extLst>
              <a:ext uri="{FF2B5EF4-FFF2-40B4-BE49-F238E27FC236}">
                <a16:creationId xmlns="" xmlns:a16="http://schemas.microsoft.com/office/drawing/2014/main" id="{D529A9A7-D818-392F-2DB5-BB907E5B7B98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="" xmlns:a16="http://schemas.microsoft.com/office/drawing/2014/main" id="{F7AF45D7-A7F4-EE63-6BB3-EDC5F32EF6BA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="" xmlns:a16="http://schemas.microsoft.com/office/drawing/2014/main" id="{08801838-020A-894C-787D-6695ABEB6437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="" xmlns:a16="http://schemas.microsoft.com/office/drawing/2014/main" id="{6918292C-7446-AC13-9C11-871A153004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AE25BAF-F86C-94FF-8708-A74166F9D54E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="" xmlns:a16="http://schemas.microsoft.com/office/drawing/2014/main" id="{2108EABF-50FE-E84C-F562-C1B7C7572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2662" y="0"/>
            <a:ext cx="8761017" cy="1143000"/>
          </a:xfrm>
        </p:spPr>
        <p:txBody>
          <a:bodyPr>
            <a:noAutofit/>
          </a:bodyPr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8.Design 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="" xmlns:a16="http://schemas.microsoft.com/office/drawing/2014/main" id="{774ADFC5-D60D-54E6-27A9-746597E16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0" y="1706563"/>
            <a:ext cx="8229600" cy="4205064"/>
          </a:xfrm>
        </p:spPr>
        <p:txBody>
          <a:bodyPr>
            <a:normAutofit/>
          </a:bodyPr>
          <a:lstStyle/>
          <a:p>
            <a:pPr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122" name="AutoShape 2" descr="Generated image: Gantt chart of software project timelin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595538" y="928670"/>
            <a:ext cx="871543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System Architecture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• The system follows a three-tier architecture with Frontend, Backend, and Database layers.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• React.js is used to build a responsive and user-friendly interface for villagers and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admins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• Node.js and Express.js manage backend APIs and server-side processing.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MongoDB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is used to securely store user details, complaints, applications, and records.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• Python-based AI modules provide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chatbot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support and smart automation features.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• REST APIs are used for secure communication between frontend and backend.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13316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CAF1579-E698-9B04-A15D-E61E9BC79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="" xmlns:a16="http://schemas.microsoft.com/office/drawing/2014/main" id="{13A333A7-C3C8-48C3-8AB0-FA2055B91205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="" xmlns:a16="http://schemas.microsoft.com/office/drawing/2014/main" id="{0A25D679-2676-B697-D723-E86B6B3E2C6B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" name="Group 19">
            <a:extLst>
              <a:ext uri="{FF2B5EF4-FFF2-40B4-BE49-F238E27FC236}">
                <a16:creationId xmlns="" xmlns:a16="http://schemas.microsoft.com/office/drawing/2014/main" id="{D529A9A7-D818-392F-2DB5-BB907E5B7B98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="" xmlns:a16="http://schemas.microsoft.com/office/drawing/2014/main" id="{F7AF45D7-A7F4-EE63-6BB3-EDC5F32EF6BA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="" xmlns:a16="http://schemas.microsoft.com/office/drawing/2014/main" id="{08801838-020A-894C-787D-6695ABEB6437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="" xmlns:a16="http://schemas.microsoft.com/office/drawing/2014/main" id="{6918292C-7446-AC13-9C11-871A153004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AE25BAF-F86C-94FF-8708-A74166F9D54E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="" xmlns:a16="http://schemas.microsoft.com/office/drawing/2014/main" id="{2108EABF-50FE-E84C-F562-C1B7C7572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4100" y="0"/>
            <a:ext cx="8761017" cy="1143000"/>
          </a:xfrm>
        </p:spPr>
        <p:txBody>
          <a:bodyPr>
            <a:noAutofit/>
          </a:bodyPr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8.Design 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="" xmlns:a16="http://schemas.microsoft.com/office/drawing/2014/main" id="{774ADFC5-D60D-54E6-27A9-746597E16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0" y="1706563"/>
            <a:ext cx="8229600" cy="4205064"/>
          </a:xfrm>
        </p:spPr>
        <p:txBody>
          <a:bodyPr>
            <a:normAutofit/>
          </a:bodyPr>
          <a:lstStyle/>
          <a:p>
            <a:pPr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122" name="AutoShape 2" descr="Generated image: Gantt chart of software project timelin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595538" y="857232"/>
            <a:ext cx="8715436" cy="5207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Module Design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User Module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• User registration and login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• Submit complaints and track status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• Check scheme eligibility and upload documents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• View announcements, village information, and project updates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Admin Module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• Verify scheme applications and documents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• Manage complaints and user requests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• Update complaint/application status and announcements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• Monitor transparency dashboard and village projects</a:t>
            </a:r>
          </a:p>
        </p:txBody>
      </p:sp>
    </p:spTree>
    <p:extLst>
      <p:ext uri="{BB962C8B-B14F-4D97-AF65-F5344CB8AC3E}">
        <p14:creationId xmlns="" xmlns:p14="http://schemas.microsoft.com/office/powerpoint/2010/main" val="1513316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CAF1579-E698-9B04-A15D-E61E9BC79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="" xmlns:a16="http://schemas.microsoft.com/office/drawing/2014/main" id="{13A333A7-C3C8-48C3-8AB0-FA2055B91205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="" xmlns:a16="http://schemas.microsoft.com/office/drawing/2014/main" id="{0A25D679-2676-B697-D723-E86B6B3E2C6B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" name="Group 19">
            <a:extLst>
              <a:ext uri="{FF2B5EF4-FFF2-40B4-BE49-F238E27FC236}">
                <a16:creationId xmlns="" xmlns:a16="http://schemas.microsoft.com/office/drawing/2014/main" id="{D529A9A7-D818-392F-2DB5-BB907E5B7B98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="" xmlns:a16="http://schemas.microsoft.com/office/drawing/2014/main" id="{F7AF45D7-A7F4-EE63-6BB3-EDC5F32EF6BA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="" xmlns:a16="http://schemas.microsoft.com/office/drawing/2014/main" id="{08801838-020A-894C-787D-6695ABEB6437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="" xmlns:a16="http://schemas.microsoft.com/office/drawing/2014/main" id="{6918292C-7446-AC13-9C11-871A153004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AE25BAF-F86C-94FF-8708-A74166F9D54E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="" xmlns:a16="http://schemas.microsoft.com/office/drawing/2014/main" id="{2108EABF-50FE-E84C-F562-C1B7C7572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4100" y="0"/>
            <a:ext cx="8761017" cy="1143000"/>
          </a:xfrm>
        </p:spPr>
        <p:txBody>
          <a:bodyPr>
            <a:noAutofit/>
          </a:bodyPr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8.Design 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="" xmlns:a16="http://schemas.microsoft.com/office/drawing/2014/main" id="{774ADFC5-D60D-54E6-27A9-746597E16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0" y="1706563"/>
            <a:ext cx="8229600" cy="4205064"/>
          </a:xfrm>
        </p:spPr>
        <p:txBody>
          <a:bodyPr>
            <a:normAutofit/>
          </a:bodyPr>
          <a:lstStyle/>
          <a:p>
            <a:pPr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122" name="AutoShape 2" descr="Generated image: Gantt chart of software project timelin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595538" y="857232"/>
            <a:ext cx="8715436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Module Design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AI Module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•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Chatbot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support for user queries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• Smart scheme recommendation system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• Complaint categorization and notification support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Database Module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• Stores user data, complaints, and applications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• Maintains scheme and complaint history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• Provides secure data management and retrieval  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13316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CAF1579-E698-9B04-A15D-E61E9BC79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="" xmlns:a16="http://schemas.microsoft.com/office/drawing/2014/main" id="{13A333A7-C3C8-48C3-8AB0-FA2055B91205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="" xmlns:a16="http://schemas.microsoft.com/office/drawing/2014/main" id="{0A25D679-2676-B697-D723-E86B6B3E2C6B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="" xmlns:a16="http://schemas.microsoft.com/office/drawing/2014/main" id="{D529A9A7-D818-392F-2DB5-BB907E5B7B98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="" xmlns:a16="http://schemas.microsoft.com/office/drawing/2014/main" id="{F7AF45D7-A7F4-EE63-6BB3-EDC5F32EF6BA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="" xmlns:a16="http://schemas.microsoft.com/office/drawing/2014/main" id="{08801838-020A-894C-787D-6695ABEB6437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="" xmlns:a16="http://schemas.microsoft.com/office/drawing/2014/main" id="{6918292C-7446-AC13-9C11-871A153004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AE25BAF-F86C-94FF-8708-A74166F9D54E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="" xmlns:a16="http://schemas.microsoft.com/office/drawing/2014/main" id="{2108EABF-50FE-E84C-F562-C1B7C7572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6583" y="381000"/>
            <a:ext cx="8761017" cy="1143000"/>
          </a:xfrm>
        </p:spPr>
        <p:txBody>
          <a:bodyPr>
            <a:noAutofit/>
          </a:bodyPr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9. REFERENCES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="" xmlns:a16="http://schemas.microsoft.com/office/drawing/2014/main" id="{774ADFC5-D60D-54E6-27A9-746597E16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2662" y="1428736"/>
            <a:ext cx="9001188" cy="5143535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 smtClean="0"/>
              <a:t>• [1] </a:t>
            </a:r>
            <a:r>
              <a:rPr lang="en-US" dirty="0" err="1" smtClean="0"/>
              <a:t>Keerti</a:t>
            </a:r>
            <a:r>
              <a:rPr lang="en-US" dirty="0" smtClean="0"/>
              <a:t> </a:t>
            </a:r>
            <a:r>
              <a:rPr lang="en-US" dirty="0" err="1" smtClean="0"/>
              <a:t>Patil</a:t>
            </a:r>
            <a:r>
              <a:rPr lang="en-US" dirty="0" smtClean="0"/>
              <a:t>, et al., “E-Gram </a:t>
            </a:r>
            <a:r>
              <a:rPr lang="en-US" dirty="0" err="1" smtClean="0"/>
              <a:t>Panchayat</a:t>
            </a:r>
            <a:r>
              <a:rPr lang="en-US" dirty="0" smtClean="0"/>
              <a:t>,” </a:t>
            </a:r>
            <a:r>
              <a:rPr lang="en-US" i="1" dirty="0" smtClean="0"/>
              <a:t>IEEE </a:t>
            </a:r>
            <a:r>
              <a:rPr lang="en-US" i="1" dirty="0" err="1" smtClean="0"/>
              <a:t>NKCon</a:t>
            </a:r>
            <a:r>
              <a:rPr lang="en-US" dirty="0" smtClean="0"/>
              <a:t>, 2023.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• [2] </a:t>
            </a:r>
            <a:r>
              <a:rPr lang="en-US" dirty="0" err="1" smtClean="0"/>
              <a:t>Farhatun</a:t>
            </a:r>
            <a:r>
              <a:rPr lang="en-US" dirty="0" smtClean="0"/>
              <a:t> </a:t>
            </a:r>
            <a:r>
              <a:rPr lang="en-US" dirty="0" err="1" smtClean="0"/>
              <a:t>Shama</a:t>
            </a:r>
            <a:r>
              <a:rPr lang="en-US" dirty="0" smtClean="0"/>
              <a:t>, Abdul Aziz, </a:t>
            </a:r>
            <a:r>
              <a:rPr lang="en-US" dirty="0" err="1" smtClean="0"/>
              <a:t>Lamisa</a:t>
            </a:r>
            <a:r>
              <a:rPr lang="en-US" dirty="0" smtClean="0"/>
              <a:t> </a:t>
            </a:r>
            <a:r>
              <a:rPr lang="en-US" dirty="0" err="1" smtClean="0"/>
              <a:t>Bintee</a:t>
            </a:r>
            <a:r>
              <a:rPr lang="en-US" dirty="0" smtClean="0"/>
              <a:t> </a:t>
            </a:r>
            <a:r>
              <a:rPr lang="en-US" dirty="0" err="1" smtClean="0"/>
              <a:t>Mizan</a:t>
            </a:r>
            <a:r>
              <a:rPr lang="en-US" dirty="0" smtClean="0"/>
              <a:t> </a:t>
            </a:r>
            <a:r>
              <a:rPr lang="en-US" dirty="0" err="1" smtClean="0"/>
              <a:t>Deya</a:t>
            </a:r>
            <a:r>
              <a:rPr lang="en-US" dirty="0" smtClean="0"/>
              <a:t>, “</a:t>
            </a:r>
            <a:r>
              <a:rPr lang="en-US" dirty="0" err="1" smtClean="0"/>
              <a:t>CitySolution</a:t>
            </a:r>
            <a:r>
              <a:rPr lang="en-US" dirty="0" smtClean="0"/>
              <a:t>: A Complaining Task Distributive Mobile Application for Smart City Corporation using Deep Learning,” </a:t>
            </a:r>
            <a:r>
              <a:rPr lang="en-US" i="1" dirty="0" err="1" smtClean="0"/>
              <a:t>arXiv</a:t>
            </a:r>
            <a:r>
              <a:rPr lang="en-US" dirty="0" smtClean="0"/>
              <a:t>, 2024.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• [3] Parade, et al., “Digital Gram </a:t>
            </a:r>
            <a:r>
              <a:rPr lang="en-US" dirty="0" err="1" smtClean="0"/>
              <a:t>Panchayat</a:t>
            </a:r>
            <a:r>
              <a:rPr lang="en-US" dirty="0" smtClean="0"/>
              <a:t>,” </a:t>
            </a:r>
            <a:r>
              <a:rPr lang="en-US" i="1" dirty="0" smtClean="0"/>
              <a:t>IJRASET</a:t>
            </a:r>
            <a:r>
              <a:rPr lang="en-US" dirty="0" smtClean="0"/>
              <a:t>, 2024.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• [4] Rita </a:t>
            </a:r>
            <a:r>
              <a:rPr lang="en-US" dirty="0" err="1" smtClean="0"/>
              <a:t>Rahmawati</a:t>
            </a:r>
            <a:r>
              <a:rPr lang="en-US" dirty="0" smtClean="0"/>
              <a:t>, et al., “The Influence of Institutional Capacity on the Implementation of Smart Villages in Village Development,” </a:t>
            </a:r>
            <a:r>
              <a:rPr lang="en-US" i="1" dirty="0" smtClean="0"/>
              <a:t>Indonesian Journal of Social Research</a:t>
            </a:r>
            <a:r>
              <a:rPr lang="en-US" dirty="0" smtClean="0"/>
              <a:t>, 2025.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• [5] </a:t>
            </a:r>
            <a:r>
              <a:rPr lang="en-US" dirty="0" err="1" smtClean="0"/>
              <a:t>Bhushan</a:t>
            </a:r>
            <a:r>
              <a:rPr lang="en-US" dirty="0" smtClean="0"/>
              <a:t> </a:t>
            </a:r>
            <a:r>
              <a:rPr lang="en-US" dirty="0" err="1" smtClean="0"/>
              <a:t>Naikwade</a:t>
            </a:r>
            <a:r>
              <a:rPr lang="en-US" dirty="0" smtClean="0"/>
              <a:t>, et al., “</a:t>
            </a:r>
            <a:r>
              <a:rPr lang="en-US" dirty="0" err="1" smtClean="0"/>
              <a:t>GramConnect</a:t>
            </a:r>
            <a:r>
              <a:rPr lang="en-US" dirty="0" smtClean="0"/>
              <a:t>: A Digital Platform for Gram </a:t>
            </a:r>
            <a:r>
              <a:rPr lang="en-US" dirty="0" err="1" smtClean="0"/>
              <a:t>Panchayat</a:t>
            </a:r>
            <a:r>
              <a:rPr lang="en-US" dirty="0" smtClean="0"/>
              <a:t> Services with </a:t>
            </a:r>
            <a:r>
              <a:rPr lang="en-US" dirty="0" err="1" smtClean="0"/>
              <a:t>Chatbot</a:t>
            </a:r>
            <a:r>
              <a:rPr lang="en-US" dirty="0" smtClean="0"/>
              <a:t> Support,” </a:t>
            </a:r>
            <a:r>
              <a:rPr lang="en-US" i="1" dirty="0" smtClean="0"/>
              <a:t>IEEE IC3ET</a:t>
            </a:r>
            <a:r>
              <a:rPr lang="en-US" dirty="0" smtClean="0"/>
              <a:t>, 2026.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513316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Custom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735</TotalTime>
  <Words>1245</Words>
  <Application>Microsoft Office PowerPoint</Application>
  <PresentationFormat>Custom</PresentationFormat>
  <Paragraphs>191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1_Custom Design</vt:lpstr>
      <vt:lpstr>Custom Design</vt:lpstr>
      <vt:lpstr>2_Custom Design</vt:lpstr>
      <vt:lpstr>3_Custom Design</vt:lpstr>
      <vt:lpstr>Slide 1</vt:lpstr>
      <vt:lpstr>AI-Enabled Smart Village Service Portal Using MERN Stack</vt:lpstr>
      <vt:lpstr>1. INTRODUCTION</vt:lpstr>
      <vt:lpstr>2. LITERATURE SURVEY</vt:lpstr>
      <vt:lpstr>2. LITERATURE SURVEY</vt:lpstr>
      <vt:lpstr>2. LITERATURE SURVEY</vt:lpstr>
      <vt:lpstr>3. PROBLEM STATEMENT &amp; OBJECTIVES</vt:lpstr>
      <vt:lpstr>4. PROPOSED METHODOLOGY</vt:lpstr>
      <vt:lpstr>4. PROPOSED METHODOLOGY</vt:lpstr>
      <vt:lpstr>5. DELIVERABLES &amp; IMPACT</vt:lpstr>
      <vt:lpstr>6. GROUP MEMBERS INDIVIDUAL RESPONSIBLITIES</vt:lpstr>
      <vt:lpstr>7.Gantt Chart</vt:lpstr>
      <vt:lpstr>8.Design </vt:lpstr>
      <vt:lpstr>8.Design </vt:lpstr>
      <vt:lpstr>8.Design </vt:lpstr>
      <vt:lpstr>9. REFERENCES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Principal aip</dc:creator>
  <cp:lastModifiedBy>HP</cp:lastModifiedBy>
  <cp:revision>137</cp:revision>
  <dcterms:created xsi:type="dcterms:W3CDTF">2021-09-07T04:22:00Z</dcterms:created>
  <dcterms:modified xsi:type="dcterms:W3CDTF">2026-05-18T09:57:55Z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0398283ACE364599A240D38F3F474187_13</vt:lpwstr>
  </property>
  <property fmtid="{D5CDD505-2E9C-101B-9397-08002B2CF9AE}" pid="3" name="KSOProductBuildVer">
    <vt:lpwstr>1033-12.2.0.13489</vt:lpwstr>
  </property>
</Properties>
</file>